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IF3jP312R9+oqJRf4LO66aRcE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3" name="Google Shape;7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2" name="Google Shape;8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73152"/>
            <a:ext cx="3657600" cy="5070348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74320" y="914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RE/MAX INMOMÁS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0" y="1371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COSTA BLANCA · ESPAÑA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274320" y="178308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274320" y="19659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74320" y="248716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NORTE AMÉRICA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" y="306324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Programa de captación de compradores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norteamericanos de alto poder adquisitivo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para propiedades en España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74320" y="41605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Septiembre 2025 – Febrero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931920" y="731520"/>
            <a:ext cx="4937760" cy="82296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762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931920" y="731520"/>
            <a:ext cx="64008" cy="82296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23360" y="804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D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5DA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114800" y="804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D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DA6"/>
                </a:solidFill>
                <a:latin typeface="Calibri"/>
                <a:ea typeface="Calibri"/>
                <a:cs typeface="Calibri"/>
                <a:sym typeface="Calibri"/>
              </a:rPr>
              <a:t>PERFIL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023360" y="10515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023360" y="132588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Equipos comerciales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931920" y="1828800"/>
            <a:ext cx="4937760" cy="82296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762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931920" y="1828800"/>
            <a:ext cx="64008" cy="8229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023360" y="19019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114800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PERFIL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023360" y="2148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023360" y="242316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Profesionales independientes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3931920" y="2926080"/>
            <a:ext cx="4937760" cy="82296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762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931920" y="2926080"/>
            <a:ext cx="64008" cy="82296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023360" y="29992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4114800" y="29992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PERFIL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023360" y="32461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023360" y="352044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Compradores finales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3931920" y="4663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Confidencial · RE/MAX Inmomás · Jávea &amp; Benidorm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OPORTUNIDAD DE MERCADO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QUÉ ESPAÑA · POR QUÉ AHORA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El Momento es Ahora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74320" y="160020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74320" y="1600200"/>
            <a:ext cx="2011680" cy="73152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65760" y="171907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DA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5DA6"/>
                </a:solidFill>
                <a:latin typeface="Calibri"/>
                <a:ea typeface="Calibri"/>
                <a:cs typeface="Calibri"/>
                <a:sym typeface="Calibri"/>
              </a:rPr>
              <a:t>87.000+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65760" y="2240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ciudadanos US/CAN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residentes en España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423160" y="160020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423160" y="1600200"/>
            <a:ext cx="201168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514600" y="171907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€320K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514600" y="2240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ticket medio de compra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en Costa Blanca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0" y="160020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72000" y="1600200"/>
            <a:ext cx="2011680" cy="7315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663440" y="171907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+34%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663440" y="2240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incremento búsquedas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desde Norteamérica 2024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720840" y="160020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720840" y="1600200"/>
            <a:ext cx="2011680" cy="7315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12280" y="171907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D7 / NLV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812280" y="2240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visados disponibles para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residentes no-UE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¿Por qué los clientes norteamericanos eligen España?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2"/>
          <p:cNvCxnSpPr/>
          <p:nvPr/>
        </p:nvCxnSpPr>
        <p:spPr>
          <a:xfrm>
            <a:off x="365760" y="3456432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2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💰  Inflación y costes de vida en EE.UU. impulsan la búsqueda de alternativas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🌞  Calidad de vida mediterránea: clima, gastronomía, seguridad y sanidad pública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57200" y="41330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🏡  Precios hasta un 60% inferiores a mercados comparables en EE.UU. y Canadá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57200" y="44256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✈️  Conectividad directa desde 40+ ciudades norteamericanas con España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📋  Visados accesibles: Golden Visa, Digital Nomad Visa (D7), Non-Lucrative Visa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OFRECEMOS COMO SOCIO ESTRATÉGICO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¿Por qué RE/MAX Inmomás como Socio?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74320" y="16002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74320" y="1600200"/>
            <a:ext cx="54864" cy="14173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38912" y="16916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Presencia Multimarca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38912" y="20391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Oficinas en Jávea y Benidorm.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Red RE/MAX con +9.000 oficinas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globales. Líderes en Costa Blanca.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46120" y="16002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46120" y="1600200"/>
            <a:ext cx="54864" cy="14173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410712" y="16916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Especialistas en Cliente Int'l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410712" y="20391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Equipo trilingüe (ES/EN/NL).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Experiencia en perfil norteamericano.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Acompañamiento integral de compra.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17920" y="16002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17920" y="1600200"/>
            <a:ext cx="54864" cy="14173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382512" y="16916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Sistema Turnkey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382512" y="20391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Búsqueda, negociación, notaría,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fiscalidad, apertura de cuenta 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gestión post-venta todo incluido.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4320" y="32004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74320" y="3200400"/>
            <a:ext cx="54864" cy="14173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38912" y="32918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Webinarios Profesionales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38912" y="36393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Formatos B2B para brokers/agentes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y B2C para clientes finales.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Contenido, certificados, referrals.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246120" y="32004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246120" y="3200400"/>
            <a:ext cx="54864" cy="14173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410712" y="32918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CRM &amp; Seguimiento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410712" y="36393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Sistema Inmovilla para tracking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de leads referidos. Transparencia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total para el agente colaborador.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217920" y="32004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217920" y="3200400"/>
            <a:ext cx="54864" cy="14173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382512" y="32918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Comisiones Competitivas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382512" y="36393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Estructura de referral fee clara.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Pago garantizado en escritura.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Programa de incentivos por volumen.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1 · BROKERS — Captación de Equipos Comerciales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COLABORACIÓN CON PROPIETARIOS DE OFICINAS INMOBILIARIAS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 Partner Program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65760" y="14356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Dirigido a: propietarios de franquicias RE/MAX, Century 21, Compass, eXp y brokers independientes en EE.UU. y Canadá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4320" y="1783080"/>
            <a:ext cx="411480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74320" y="1783080"/>
            <a:ext cx="4114800" cy="41148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65760" y="1783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OFRECEMOS AL BROKER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11480" y="2258568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Co-branding en materiales y webinarios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11480" y="2633472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Formación gratuita a su equipo (certificado RE/MAX)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11480" y="3008376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Referral fee: 25% de la comisión neta de venta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11480" y="3383280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Bonus por volumen: &gt;3 operaciones/año = fee al 30%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11480" y="3758184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Acceso al CRM compartido (Inmovilla) para seguimiento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11480" y="4133088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Invitación a FAM Trip a España (pago RE/MAX Inmomás)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11480" y="4507992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✅  Material de captación B2C en inglés listo para usar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63440" y="1783080"/>
            <a:ext cx="420624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663440" y="1783080"/>
            <a:ext cx="4206240" cy="41148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754880" y="1783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COMPROMISOS QUE PEDIMOS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00600" y="2258568"/>
            <a:ext cx="3931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📌  Firmar MOU (Memorandum of Understanding)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00600" y="2633472"/>
            <a:ext cx="3931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📌  Asistir a 1 webinario de onboarding (2h) con su equipo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800600" y="3008376"/>
            <a:ext cx="3931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📌  Compartir materiales con mínimo 5 agentes de su oficina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00600" y="3383280"/>
            <a:ext cx="3931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📌  Invitar a clientes potenciales a 2 webinarios B2C/semestre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800600" y="3758184"/>
            <a:ext cx="3931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📌  Nombrar un punto de contacto (agente referente)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800600" y="4133088"/>
            <a:ext cx="39319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📌  Reportar leads enviados en plataforma CRM compartida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2 · AGENTES — Profesionales Inmobiliarios Individuales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AGENTES RE/MAX, INDEPENDIENTES Y PLATAFORMAS COMO EXP, REDFIN, ZILLOW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Agent Referral Partner Program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14356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Perfil ideal: agentes con clientela de alto poder adquisitivo, inversores inmobiliarios o clientes en búsqueda activa de calidad de vida internacional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74320" y="178308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74320" y="1783080"/>
            <a:ext cx="54864" cy="1417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38912" y="187452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Registro de Referido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38912" y="222199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Sistema de protección total del referido.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El agente registra al cliente en CRM.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Garantía de comisión por contrato.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46120" y="178308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46120" y="1783080"/>
            <a:ext cx="54864" cy="1417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410712" y="187452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Formación &amp; Herramientas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410712" y="222199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Acceso a academia online RE/MAX Spain.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Pitch deck en inglés personalizado.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Video-presentaciones de propiedades.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217920" y="178308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217920" y="1783080"/>
            <a:ext cx="54864" cy="1417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382512" y="187452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Comisión Referral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382512" y="222199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20-25% fee sobre comisión neta.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Pagado en el día de escritura.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Sin costes de entrada ni cuotas.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32004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74320" y="3200400"/>
            <a:ext cx="54864" cy="1417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38912" y="32918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Webinarios Mensuales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38912" y="36393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Sesión mensual de actualización.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Presentación de propiedades nuevas.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Casos de éxito + Q&amp;A en directo.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246120" y="32004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246120" y="3200400"/>
            <a:ext cx="54864" cy="1417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410712" y="32918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Kit de Captación Digital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410712" y="36393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Reel de Instagram co-branded.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Landing page personalizada.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Email templates listos para enviar.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17920" y="320040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217920" y="3200400"/>
            <a:ext cx="54864" cy="1417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382512" y="3291840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Soporte 24/7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382512" y="3639312"/>
            <a:ext cx="24871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WhatsApp Business dedicado.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Respuesta en &lt;2h a consultas.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Agente de cuenta asignado en España.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3 · CLIENTES — Compradores Finales Norteamericanos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PERSONAS QUE COMPRAN EN ESPAÑA: INVERSORES, FAMILIAS, NÓMADAS DIGITALES, RETIRADOS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Spain Dream Buyer Program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65760" y="14356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El cliente final recibe una experiencia completa, personalizada y sin fricción para comprar en España desde Norteamérica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74320" y="1783080"/>
            <a:ext cx="457200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74320" y="1783080"/>
            <a:ext cx="4572000" cy="41148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178308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JOURNEY DEL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7472" y="2267712"/>
            <a:ext cx="329184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47472" y="22677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49808" y="226771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1. DESCUBRIMIENTO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49808" y="244144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Webinar gratuito → conoce RE/MAX Inmomás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47472" y="2706624"/>
            <a:ext cx="329184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47472" y="27066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49808" y="2706624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2. CONSULTA INICIAL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49808" y="2880360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Llamada 1:1 con agente especialista en US/CA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47472" y="3145536"/>
            <a:ext cx="329184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47472" y="314553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49808" y="3145536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3. VISITA VIRTUAL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49808" y="331927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Tour 3D de propiedades seleccionadas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47472" y="3584448"/>
            <a:ext cx="329184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7472" y="35844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49808" y="358444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4. FAM TRIP OPCIONAL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49808" y="3758184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Visita presencial a Jávea o Benidorm (3 días)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47472" y="4023360"/>
            <a:ext cx="329184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47472" y="40233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49808" y="4023360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5. OFERTA &amp; RESERVA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49808" y="4197096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Propuesta, negociación y contrato de arras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47472" y="4462272"/>
            <a:ext cx="329184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47472" y="4462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49808" y="446227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6. ESCRITURA &amp; VISADO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749808" y="463600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Acompañamiento notarial + tramitación visado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120640" y="1783080"/>
            <a:ext cx="374904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120640" y="1783080"/>
            <a:ext cx="3749040" cy="41148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212080" y="17830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PERFILES DE COMPRADOR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212080" y="22860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🏖️  Retirado de calidad de vida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212080" y="256032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55-70 años. Budget €250-500K.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Busca sol, mar y sanidad.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6"/>
          <p:cNvCxnSpPr/>
          <p:nvPr/>
        </p:nvCxnSpPr>
        <p:spPr>
          <a:xfrm>
            <a:off x="5212080" y="289864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6"/>
          <p:cNvSpPr/>
          <p:nvPr/>
        </p:nvSpPr>
        <p:spPr>
          <a:xfrm>
            <a:off x="5212080" y="299923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💼  Nómada Digital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212080" y="327355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30-45 años. Budget €200-350K.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Visa D7 o Golden Visa.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212080" y="361188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/>
          <p:nvPr/>
        </p:nvSpPr>
        <p:spPr>
          <a:xfrm>
            <a:off x="5212080" y="371246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📈  Inversor Inmobiliario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212080" y="398678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Budget €400K+. Interés 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alquiler turístico y plusvalía.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6"/>
          <p:cNvCxnSpPr/>
          <p:nvPr/>
        </p:nvCxnSpPr>
        <p:spPr>
          <a:xfrm>
            <a:off x="5212080" y="4325112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6"/>
          <p:cNvSpPr/>
          <p:nvPr/>
        </p:nvSpPr>
        <p:spPr>
          <a:xfrm>
            <a:off x="5212080" y="44256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👨‍👩‍👧  Familia en Reubicación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212080" y="470001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Busca colegio, seguridad 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comunidad hispanohablante.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ACCIÓN · FASE 1: Septiembre – Octubre 2025 · Lanzamiento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ESTRUCTURA, CONTENIDOS Y PRIMEROS CONTACTOS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Fase 1 — Construcción de Base y Primer Contacto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74320" y="1554480"/>
            <a:ext cx="306324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65760" y="155448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401568" y="1554480"/>
            <a:ext cx="178308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493008" y="155448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248656" y="1554480"/>
            <a:ext cx="123444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340096" y="155448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547104" y="1554480"/>
            <a:ext cx="169164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638544" y="1554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74320" y="1920240"/>
            <a:ext cx="30632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65760" y="192024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Crear landing page EN: 'Buy in Spain'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401568" y="1920240"/>
            <a:ext cx="178308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493008" y="192024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248656" y="1920240"/>
            <a:ext cx="12344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340096" y="192024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547104" y="1920240"/>
            <a:ext cx="16916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638544" y="192024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 landing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" y="228600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65760" y="228600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Diseñar MOU/contrato de colaboración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3401568" y="228600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493008" y="228600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Legal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248656" y="228600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340096" y="228600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Brokers/Agentes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547104" y="228600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638544" y="228600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Doc listo para firmar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74320" y="2651760"/>
            <a:ext cx="30632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65760" y="265176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Configurar CRM Inmovilla (etiquetas NA)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401568" y="2651760"/>
            <a:ext cx="178308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493008" y="265176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de Operaciones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248656" y="2651760"/>
            <a:ext cx="12344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340096" y="265176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547104" y="2651760"/>
            <a:ext cx="16916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638544" y="265176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Tags y flujo activo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74320" y="301752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65760" y="301752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Prospección LinkedIn: 100 brokers US/CA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401568" y="301752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493008" y="301752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Comercial Senior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248656" y="301752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340096" y="301752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547104" y="301752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638544" y="301752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100 conexiones nuevas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74320" y="3383280"/>
            <a:ext cx="30632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65760" y="338328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1er Webinar B2B (Brokers): 'Spain Opportunity'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401568" y="3383280"/>
            <a:ext cx="178308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493008" y="338328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Agente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248656" y="3383280"/>
            <a:ext cx="12344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340096" y="338328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547104" y="3383280"/>
            <a:ext cx="16916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638544" y="338328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≥30 asistentes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274320" y="374904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65760" y="374904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Crear playlist YouTube 'Living in Spain'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401568" y="374904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493008" y="374904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5248656" y="374904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340096" y="374904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547104" y="374904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638544" y="374904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 vídeos publicados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74320" y="4114800"/>
            <a:ext cx="30632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65760" y="411480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Email campaign #1: Broker Outreach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3401568" y="4114800"/>
            <a:ext cx="178308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493008" y="411480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5248656" y="4114800"/>
            <a:ext cx="12344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5340096" y="411480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547104" y="4114800"/>
            <a:ext cx="1691640" cy="338328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638544" y="411480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500 emails, &gt;20% 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274320" y="448056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65760" y="448056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Primeras 5 firmas MOU 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401568" y="448056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3493008" y="448056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Comercial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248656" y="448056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5340096" y="448056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6547104" y="448056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6638544" y="448056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 acuerdos firmados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ACCIÓN · FASE 2: Noviembre – Diciembre 2025 · Aceleración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ACTIVACIÓN DE AGENTES Y PRIMEROS CLIENTES DIRECTOS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Fase 2 — Activación de Red de Agentes y Pipeline de Clientes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74320" y="1554480"/>
            <a:ext cx="3063240" cy="3474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365760" y="155448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3401568" y="1554480"/>
            <a:ext cx="1783080" cy="3474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493008" y="155448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5248656" y="1554480"/>
            <a:ext cx="1234440" cy="3474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5340096" y="155448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6547104" y="1554480"/>
            <a:ext cx="1691640" cy="3474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638544" y="1554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274320" y="1920240"/>
            <a:ext cx="30632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365760" y="192024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2do Webinar B2B: 'How to Earn with Spain'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3401568" y="1920240"/>
            <a:ext cx="178308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493008" y="192024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Comercial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5248656" y="1920240"/>
            <a:ext cx="12344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5340096" y="192024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547104" y="1920240"/>
            <a:ext cx="16916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6638544" y="192024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≥50 asistentes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274320" y="228600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365760" y="228600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Lanzar Instagram ads (US/CA geotargeting)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3401568" y="228600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3493008" y="228600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248656" y="228600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340096" y="228600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547104" y="228600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638544" y="228600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€500/mes, &gt;50 leads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74320" y="2651760"/>
            <a:ext cx="30632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65760" y="265176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Programa de formación online para 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3401568" y="2651760"/>
            <a:ext cx="178308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3493008" y="265176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Coord. Formación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5248656" y="2651760"/>
            <a:ext cx="12344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5340096" y="265176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547104" y="2651760"/>
            <a:ext cx="16916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638544" y="265176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20 agentes certificados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274320" y="301752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365760" y="301752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1er Webinar B2C: 'How to Buy in Spain'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3401568" y="301752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3493008" y="301752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Fiscal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248656" y="301752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340096" y="301752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6547104" y="301752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6638544" y="301752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≥80 registros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274320" y="3383280"/>
            <a:ext cx="30632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365760" y="338328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Campaña LinkedIn Paid: brokers NY, FL, TX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3401568" y="3383280"/>
            <a:ext cx="178308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3493008" y="338328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5248656" y="3383280"/>
            <a:ext cx="12344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5340096" y="338328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6547104" y="3383280"/>
            <a:ext cx="16916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6638544" y="338328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30 leads cualificados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74320" y="374904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365760" y="374904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Activar 15 agentes referral (contratos firmados)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401568" y="374904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3493008" y="374904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Comercial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248656" y="374904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5340096" y="374904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6547104" y="374904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6638544" y="374904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15 contratos activos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274320" y="4114800"/>
            <a:ext cx="30632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365760" y="411480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Newsletter mensual 'Spain Property Insider'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3401568" y="4114800"/>
            <a:ext cx="178308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3493008" y="411480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5248656" y="4114800"/>
            <a:ext cx="12344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5340096" y="411480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6547104" y="4114800"/>
            <a:ext cx="1691640" cy="338328"/>
          </a:xfrm>
          <a:prstGeom prst="rect">
            <a:avLst/>
          </a:prstGeom>
          <a:solidFill>
            <a:srgbClr val="F4FAFA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638544" y="411480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800+ suscriptores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274320" y="448056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365760" y="448056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Organizar FAM Trip Q1 2026 (planificación)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3401568" y="448056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3493008" y="448056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5248656" y="448056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5340096" y="448056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Brokers/Agentes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6547104" y="448056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6638544" y="448056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Programa definido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ACCIÓN · FASE 3: Enero – Febrero 2026 · Conversión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 DE OPERACIONES Y CONSOLIDACIÓN DEL PROGRAMA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Fase 3 — Conversión, FAM Trip y Primeras Operaciones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274320" y="1554480"/>
            <a:ext cx="306324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365760" y="155448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3401568" y="1554480"/>
            <a:ext cx="1783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3493008" y="155448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248656" y="1554480"/>
            <a:ext cx="123444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5340096" y="155448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6547104" y="1554480"/>
            <a:ext cx="169164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6638544" y="1554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74320" y="1920240"/>
            <a:ext cx="30632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365760" y="192024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FAM Trip a Jávea &amp; Benidorm (brokers/agentes)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3401568" y="1920240"/>
            <a:ext cx="178308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3493008" y="192024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5248656" y="1920240"/>
            <a:ext cx="12344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340096" y="192024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Brokers/Agentes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6547104" y="1920240"/>
            <a:ext cx="16916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6638544" y="192024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10-15 asistentes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274320" y="228600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365760" y="228600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3er Webinar B2C: Casos de éxito reales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3401568" y="228600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3493008" y="228600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5248656" y="228600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5340096" y="228600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6547104" y="228600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6638544" y="228600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≥100 registros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274320" y="2651760"/>
            <a:ext cx="30632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365760" y="265176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Seguimiento pipeline CRM: leads calientes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401568" y="2651760"/>
            <a:ext cx="178308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3493008" y="265176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Comercial Senior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5248656" y="2651760"/>
            <a:ext cx="12344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5340096" y="265176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6547104" y="2651760"/>
            <a:ext cx="16916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6638544" y="265176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30 leads en fase oferta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274320" y="301752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365760" y="301752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Primer cierre de operaciones referidas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3401568" y="301752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3493008" y="301752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Agente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5248656" y="301752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5340096" y="301752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Brokers/Agentes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6547104" y="301752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6638544" y="301752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≥3 escrituras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274320" y="3383280"/>
            <a:ext cx="30632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365760" y="338328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Webinar especial: 'Golden &amp; D7 Visa 2026'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3401568" y="3383280"/>
            <a:ext cx="178308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3493008" y="338328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+ Abogado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5248656" y="3383280"/>
            <a:ext cx="12344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5340096" y="338328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6547104" y="3383280"/>
            <a:ext cx="16916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6638544" y="338328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≥80 asistentes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274320" y="374904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365760" y="374904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Review 360º del programa (KPIs semestre)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3401568" y="374904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3493008" y="374904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General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5248656" y="374904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5340096" y="374904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6547104" y="374904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6638544" y="374904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Informe ejecutivo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274320" y="4114800"/>
            <a:ext cx="30632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365760" y="411480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Renovar/ampliar red de brokers (objetivo Q2)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3401568" y="4114800"/>
            <a:ext cx="178308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3493008" y="411480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Director Comercial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5248656" y="4114800"/>
            <a:ext cx="12344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5340096" y="411480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6547104" y="4114800"/>
            <a:ext cx="1691640" cy="338328"/>
          </a:xfrm>
          <a:prstGeom prst="rect">
            <a:avLst/>
          </a:prstGeom>
          <a:solidFill>
            <a:srgbClr val="FFFDF5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6638544" y="411480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≥15 brokers activos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274320" y="4480560"/>
            <a:ext cx="30632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365760" y="4480560"/>
            <a:ext cx="2971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Lanzar programa de testimonios/casos de éxito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3401568" y="4480560"/>
            <a:ext cx="178308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3493008" y="4480560"/>
            <a:ext cx="1691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5248656" y="4480560"/>
            <a:ext cx="12344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5340096" y="4480560"/>
            <a:ext cx="1143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6547104" y="4480560"/>
            <a:ext cx="1691640" cy="338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6638544" y="4480560"/>
            <a:ext cx="1600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 vídeo-testimonios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ESTRATEGIA DE WEBINARIOS · Formatos B2B y B2C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WEBINAR COMO HERRAMIENTA CENTRAL DE CAPTACIÓN Y CONVERSIÓN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Calendario &amp; Estructura de Webinarios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274320" y="1554480"/>
            <a:ext cx="4114800" cy="3337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411480" y="155448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🏢  WEBINAR B2B · Para Brokers &amp; Agentes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411480" y="20848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Frecuencia: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1600200" y="208483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 al mes (2do miércoles, 8pm 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411480" y="242316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Duración: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1600200" y="242316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60-90 minutos + Q&amp;A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411480" y="276148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Plataforma: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1600200" y="27614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Zoom Webinar (capacidad 500)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411480" y="309981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Idioma: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1600200" y="309981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Inglés (con resumen en español)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411480" y="343814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Registro: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600200" y="343814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Eventbrite + CRM Inmovilla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411480" y="377647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Contenido: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600200" y="377647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Mercado España, fiscalidad, visados,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casos reales, estructura comisiones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411480" y="4114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Invitación: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600200" y="41148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Por LinkedIn, email y RE/MAX network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411480" y="44531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Certificado: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1600200" y="44531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PDF de asistencia con créditos CPD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411480" y="479145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Follow-up: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1600200" y="47914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Email 24h + whatsapp + llamada en 48h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4663440" y="1554480"/>
            <a:ext cx="4206240" cy="3337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4663440" y="1554480"/>
            <a:ext cx="4206240" cy="4572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4800600" y="155448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🌅  WEBINAR B2C · Para Compradores Finales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4800600" y="20848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Frecuencia: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6053328" y="208483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 cada 2 semanas (sábados 10am 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0"/>
          <p:cNvSpPr/>
          <p:nvPr/>
        </p:nvSpPr>
        <p:spPr>
          <a:xfrm>
            <a:off x="4800600" y="24231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Duración: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6053328" y="242316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45-60 minutos + preguntas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4800600" y="276148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Plataforma: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6053328" y="276148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Zoom Meeting / YouTube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4800600" y="3099816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Idioma: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6053328" y="3099816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Inglés principalmente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4800600" y="343814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Registro: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6053328" y="3438144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Landing page + Meta 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4800600" y="37764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Contenido: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6053328" y="377647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Proceso de compra, comunidades,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calidad de vida, casos de éxito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4800600" y="411480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Invitación: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6053328" y="41148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Por agentes colaboradores + redes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4800600" y="445312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Regalo: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6053328" y="445312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Guía PDF 'Your Guide to Buy in Spain'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4800600" y="4791456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Follow-up: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6053328" y="4791456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Consulta gratuita 1:1 de 20 minutos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DIGITAL · Canales y Acciones por Perfil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ECOSISTEMA DIGITAL MULTICANAL ORIENTADO A RESULTADOS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Mix de Marketing Digital 2025-2026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274320" y="155448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274320" y="1554480"/>
            <a:ext cx="4160520" cy="54864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411480" y="16459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💼  LinkedIn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411480" y="19385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🎯 Brokers &amp; Agentes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411480" y="217627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Outreach personalizado, InMail, posts de thought leadership, LinkedIn Ads (US/CA geotargeting)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411480" y="290779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💰 €300/mes ads   📊 100 leads B2B/mes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4663440" y="155448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1"/>
          <p:cNvSpPr/>
          <p:nvPr/>
        </p:nvSpPr>
        <p:spPr>
          <a:xfrm>
            <a:off x="4663440" y="1554480"/>
            <a:ext cx="4160520" cy="54864"/>
          </a:xfrm>
          <a:prstGeom prst="rect">
            <a:avLst/>
          </a:prstGeom>
          <a:solidFill>
            <a:srgbClr val="E1306C"/>
          </a:solidFill>
          <a:ln cap="flat" cmpd="sng" w="12700">
            <a:solidFill>
              <a:srgbClr val="E13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1"/>
          <p:cNvSpPr/>
          <p:nvPr/>
        </p:nvSpPr>
        <p:spPr>
          <a:xfrm>
            <a:off x="4800600" y="16459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📸  Instagram &amp; Meta 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/>
          <p:nvPr/>
        </p:nvSpPr>
        <p:spPr>
          <a:xfrm>
            <a:off x="4800600" y="19385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136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136C"/>
                </a:solidFill>
                <a:latin typeface="Calibri"/>
                <a:ea typeface="Calibri"/>
                <a:cs typeface="Calibri"/>
                <a:sym typeface="Calibri"/>
              </a:rPr>
              <a:t>🎯 Clientes Finales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4800600" y="217627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Reels de propiedades, Stories con vida en España, Ads segmentados por interés inmobiliario US/CA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4800600" y="290779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💰 €500/mes ads   📊 50 leads B2C/mes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274320" y="333756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274320" y="3337560"/>
            <a:ext cx="4160520" cy="54864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411480" y="34290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▶️  YouTube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411480" y="372160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🎯 Todos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411480" y="395935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Serie 'Living in Spain', tours de propiedades, testimonios, FAQs sobre visados y fiscalidad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411480" y="46908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💰 €0 (orgánico)   📊 500 subs en 6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4663440" y="3337560"/>
            <a:ext cx="4160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4663440" y="3337560"/>
            <a:ext cx="4160520" cy="548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4800600" y="34290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📧  Email 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4800600" y="372160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🎯 Brokers &amp; 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4800600" y="395935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Newsletter mensual, sequencias de nurturing, invitaciones a webinars, follow-up automatizado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1"/>
          <p:cNvSpPr/>
          <p:nvPr/>
        </p:nvSpPr>
        <p:spPr>
          <a:xfrm>
            <a:off x="4800600" y="46908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💰 €80/mes (Mailchimp)   📊 &gt;25% open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 &amp; OBJETIVOS · Septiembre 2025 – Febrero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ÉXITO POR PERFIL Y POR FASE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Cuadro de Mandos del Programa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457200" y="1554480"/>
            <a:ext cx="2606040" cy="118872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1270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457200" y="1627632"/>
            <a:ext cx="2606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457200" y="221284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Brokers/Agentes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Colaboradores Activos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3291840" y="1554480"/>
            <a:ext cx="2606040" cy="118872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1270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3291840" y="1627632"/>
            <a:ext cx="2606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3291840" y="221284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Escrituras 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Compraventa Cerradas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6126480" y="1554480"/>
            <a:ext cx="2606040" cy="118872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1270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6126480" y="1627632"/>
            <a:ext cx="2606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€1.2M+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6126480" y="221284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Volumen 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Ventas Generado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/>
          <p:nvPr/>
        </p:nvSpPr>
        <p:spPr>
          <a:xfrm>
            <a:off x="274320" y="2880360"/>
            <a:ext cx="3154680" cy="3200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347472" y="28803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/>
          <p:nvPr/>
        </p:nvSpPr>
        <p:spPr>
          <a:xfrm>
            <a:off x="3493008" y="2880360"/>
            <a:ext cx="1234440" cy="3200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3566160" y="288036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SEP-OCT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4791456" y="2880360"/>
            <a:ext cx="1234440" cy="3200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4864608" y="288036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NOV-DIC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6089904" y="2880360"/>
            <a:ext cx="1234440" cy="3200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6163056" y="288036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ENE-FEB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2"/>
          <p:cNvSpPr/>
          <p:nvPr/>
        </p:nvSpPr>
        <p:spPr>
          <a:xfrm>
            <a:off x="7424928" y="2880360"/>
            <a:ext cx="1371600" cy="32004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7498080" y="28803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274320" y="3218688"/>
            <a:ext cx="315468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347472" y="3218688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 contactados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3493008" y="3218688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2"/>
          <p:cNvSpPr/>
          <p:nvPr/>
        </p:nvSpPr>
        <p:spPr>
          <a:xfrm>
            <a:off x="3566160" y="3218688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2"/>
          <p:cNvSpPr/>
          <p:nvPr/>
        </p:nvSpPr>
        <p:spPr>
          <a:xfrm>
            <a:off x="4791456" y="3218688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4864608" y="3218688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2"/>
          <p:cNvSpPr/>
          <p:nvPr/>
        </p:nvSpPr>
        <p:spPr>
          <a:xfrm>
            <a:off x="6089904" y="3218688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6163056" y="3218688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2"/>
          <p:cNvSpPr/>
          <p:nvPr/>
        </p:nvSpPr>
        <p:spPr>
          <a:xfrm>
            <a:off x="7424928" y="3218688"/>
            <a:ext cx="137160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2"/>
          <p:cNvSpPr/>
          <p:nvPr/>
        </p:nvSpPr>
        <p:spPr>
          <a:xfrm>
            <a:off x="7498080" y="3218688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225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274320" y="3419856"/>
            <a:ext cx="315468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347472" y="3419856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Brokers con MOU firmado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2"/>
          <p:cNvSpPr/>
          <p:nvPr/>
        </p:nvSpPr>
        <p:spPr>
          <a:xfrm>
            <a:off x="3493008" y="3419856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2"/>
          <p:cNvSpPr/>
          <p:nvPr/>
        </p:nvSpPr>
        <p:spPr>
          <a:xfrm>
            <a:off x="3566160" y="3419856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4791456" y="3419856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4864608" y="3419856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2"/>
          <p:cNvSpPr/>
          <p:nvPr/>
        </p:nvSpPr>
        <p:spPr>
          <a:xfrm>
            <a:off x="6089904" y="3419856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6163056" y="3419856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2"/>
          <p:cNvSpPr/>
          <p:nvPr/>
        </p:nvSpPr>
        <p:spPr>
          <a:xfrm>
            <a:off x="7424928" y="3419856"/>
            <a:ext cx="137160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2"/>
          <p:cNvSpPr/>
          <p:nvPr/>
        </p:nvSpPr>
        <p:spPr>
          <a:xfrm>
            <a:off x="7498080" y="3419856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274320" y="3621024"/>
            <a:ext cx="315468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"/>
          <p:cNvSpPr/>
          <p:nvPr/>
        </p:nvSpPr>
        <p:spPr>
          <a:xfrm>
            <a:off x="347472" y="3621024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Agentes referral activos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2"/>
          <p:cNvSpPr/>
          <p:nvPr/>
        </p:nvSpPr>
        <p:spPr>
          <a:xfrm>
            <a:off x="3493008" y="3621024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2"/>
          <p:cNvSpPr/>
          <p:nvPr/>
        </p:nvSpPr>
        <p:spPr>
          <a:xfrm>
            <a:off x="3566160" y="3621024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4791456" y="3621024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2"/>
          <p:cNvSpPr/>
          <p:nvPr/>
        </p:nvSpPr>
        <p:spPr>
          <a:xfrm>
            <a:off x="4864608" y="3621024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6089904" y="3621024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6163056" y="3621024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7424928" y="3621024"/>
            <a:ext cx="137160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7498080" y="3621024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274320" y="3822192"/>
            <a:ext cx="315468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347472" y="3822192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Webinars B2B celebrados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3493008" y="3822192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3566160" y="3822192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2"/>
          <p:cNvSpPr/>
          <p:nvPr/>
        </p:nvSpPr>
        <p:spPr>
          <a:xfrm>
            <a:off x="4791456" y="3822192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4864608" y="3822192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6089904" y="3822192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6163056" y="3822192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7424928" y="3822192"/>
            <a:ext cx="137160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2"/>
          <p:cNvSpPr/>
          <p:nvPr/>
        </p:nvSpPr>
        <p:spPr>
          <a:xfrm>
            <a:off x="7498080" y="3822192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274320" y="4023360"/>
            <a:ext cx="315468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347472" y="4023360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Webinars B2C celebrados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3493008" y="4023360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3566160" y="4023360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4791456" y="4023360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4864608" y="4023360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6089904" y="4023360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6163056" y="4023360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7424928" y="4023360"/>
            <a:ext cx="137160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7498080" y="4023360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274320" y="4224528"/>
            <a:ext cx="315468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347472" y="4224528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Leads clientes registrados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3493008" y="4224528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3566160" y="4224528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4791456" y="4224528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4864608" y="4224528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6089904" y="4224528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6163056" y="4224528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7424928" y="4224528"/>
            <a:ext cx="137160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7498080" y="4224528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274320" y="4425696"/>
            <a:ext cx="315468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347472" y="4425696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Consultas 1:1 realizadas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3493008" y="4425696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3566160" y="4425696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4791456" y="4425696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4864608" y="4425696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6089904" y="4425696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6163056" y="4425696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7424928" y="4425696"/>
            <a:ext cx="137160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7498080" y="4425696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274320" y="4626864"/>
            <a:ext cx="315468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347472" y="4626864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Ofertas presentadas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3493008" y="4626864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3566160" y="4626864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4791456" y="4626864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4864608" y="4626864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2"/>
          <p:cNvSpPr/>
          <p:nvPr/>
        </p:nvSpPr>
        <p:spPr>
          <a:xfrm>
            <a:off x="6089904" y="4626864"/>
            <a:ext cx="12344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6163056" y="4626864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7424928" y="4626864"/>
            <a:ext cx="137160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7498080" y="4626864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2"/>
          <p:cNvSpPr/>
          <p:nvPr/>
        </p:nvSpPr>
        <p:spPr>
          <a:xfrm>
            <a:off x="274320" y="4828032"/>
            <a:ext cx="315468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347472" y="4828032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Escrituras cerradas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3493008" y="4828032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3566160" y="4828032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4791456" y="4828032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2"/>
          <p:cNvSpPr/>
          <p:nvPr/>
        </p:nvSpPr>
        <p:spPr>
          <a:xfrm>
            <a:off x="4864608" y="4828032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2"/>
          <p:cNvSpPr/>
          <p:nvPr/>
        </p:nvSpPr>
        <p:spPr>
          <a:xfrm>
            <a:off x="6089904" y="4828032"/>
            <a:ext cx="123444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2"/>
          <p:cNvSpPr/>
          <p:nvPr/>
        </p:nvSpPr>
        <p:spPr>
          <a:xfrm>
            <a:off x="6163056" y="4828032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3+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"/>
          <p:cNvSpPr/>
          <p:nvPr/>
        </p:nvSpPr>
        <p:spPr>
          <a:xfrm>
            <a:off x="7424928" y="4828032"/>
            <a:ext cx="1371600" cy="192024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2"/>
          <p:cNvSpPr/>
          <p:nvPr/>
        </p:nvSpPr>
        <p:spPr>
          <a:xfrm>
            <a:off x="7498080" y="4828032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5+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"/>
          <p:cNvSpPr/>
          <p:nvPr/>
        </p:nvSpPr>
        <p:spPr>
          <a:xfrm>
            <a:off x="274320" y="5029200"/>
            <a:ext cx="3154680" cy="192024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2"/>
          <p:cNvSpPr/>
          <p:nvPr/>
        </p:nvSpPr>
        <p:spPr>
          <a:xfrm>
            <a:off x="347472" y="5029200"/>
            <a:ext cx="30815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Ingresos por referral generados (€)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"/>
          <p:cNvSpPr/>
          <p:nvPr/>
        </p:nvSpPr>
        <p:spPr>
          <a:xfrm>
            <a:off x="3493008" y="5029200"/>
            <a:ext cx="1234440" cy="192024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2"/>
          <p:cNvSpPr/>
          <p:nvPr/>
        </p:nvSpPr>
        <p:spPr>
          <a:xfrm>
            <a:off x="3566160" y="5029200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4791456" y="5029200"/>
            <a:ext cx="1234440" cy="192024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4864608" y="5029200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€15K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6089904" y="5029200"/>
            <a:ext cx="1234440" cy="192024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6163056" y="5029200"/>
            <a:ext cx="11612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€25K+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2"/>
          <p:cNvSpPr/>
          <p:nvPr/>
        </p:nvSpPr>
        <p:spPr>
          <a:xfrm>
            <a:off x="7424928" y="5029200"/>
            <a:ext cx="1371600" cy="192024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7498080" y="5029200"/>
            <a:ext cx="129844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€40K+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&amp; RESPONSABLES · Organización Interna del Programa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3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ROLES, FUNCIONES Y DEDICACIÓN ESTIMADA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¿Quién hace qué?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274320" y="1554480"/>
            <a:ext cx="8595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274320" y="1554480"/>
            <a:ext cx="64008" cy="62179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3"/>
          <p:cNvSpPr/>
          <p:nvPr/>
        </p:nvSpPr>
        <p:spPr>
          <a:xfrm>
            <a:off x="411480" y="16002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Director del Programa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3"/>
          <p:cNvSpPr/>
          <p:nvPr/>
        </p:nvSpPr>
        <p:spPr>
          <a:xfrm>
            <a:off x="411480" y="18928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Pepe (RE/MAX Inmomás)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3"/>
          <p:cNvSpPr/>
          <p:nvPr/>
        </p:nvSpPr>
        <p:spPr>
          <a:xfrm>
            <a:off x="2331720" y="1627632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Estrategia, relaciones brokers senior, webinars B2B, firma de MOU, supervisión general del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7863840" y="1682496"/>
            <a:ext cx="82296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7863840" y="1682496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274320" y="2249424"/>
            <a:ext cx="8595360" cy="621792"/>
          </a:xfrm>
          <a:prstGeom prst="rect">
            <a:avLst/>
          </a:prstGeom>
          <a:solidFill>
            <a:srgbClr val="F7FAFD"/>
          </a:solidFill>
          <a:ln>
            <a:noFill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3"/>
          <p:cNvSpPr/>
          <p:nvPr/>
        </p:nvSpPr>
        <p:spPr>
          <a:xfrm>
            <a:off x="274320" y="2249424"/>
            <a:ext cx="64008" cy="621792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3"/>
          <p:cNvSpPr/>
          <p:nvPr/>
        </p:nvSpPr>
        <p:spPr>
          <a:xfrm>
            <a:off x="411480" y="22951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Community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411480" y="25877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D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A5DA6"/>
                </a:solidFill>
                <a:latin typeface="Calibri"/>
                <a:ea typeface="Calibri"/>
                <a:cs typeface="Calibri"/>
                <a:sym typeface="Calibri"/>
              </a:rPr>
              <a:t>Equipo Digital Inmomás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2331720" y="2322576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Redes sociales, email marketing, landing pages, producción de vídeo, ads y analítica digital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3"/>
          <p:cNvSpPr/>
          <p:nvPr/>
        </p:nvSpPr>
        <p:spPr>
          <a:xfrm>
            <a:off x="7863840" y="2377440"/>
            <a:ext cx="822960" cy="347472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7863840" y="237744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274320" y="2944368"/>
            <a:ext cx="8595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3"/>
          <p:cNvSpPr/>
          <p:nvPr/>
        </p:nvSpPr>
        <p:spPr>
          <a:xfrm>
            <a:off x="274320" y="2944368"/>
            <a:ext cx="64008" cy="62179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3"/>
          <p:cNvSpPr/>
          <p:nvPr/>
        </p:nvSpPr>
        <p:spPr>
          <a:xfrm>
            <a:off x="411480" y="2990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Comercial Senior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411480" y="328269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Agente especialista int'l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3"/>
          <p:cNvSpPr/>
          <p:nvPr/>
        </p:nvSpPr>
        <p:spPr>
          <a:xfrm>
            <a:off x="2331720" y="3017520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Prospección LinkedIn, seguimiento de leads, consultas 1:1, cierre de operaciones, CRM Inmovilla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3"/>
          <p:cNvSpPr/>
          <p:nvPr/>
        </p:nvSpPr>
        <p:spPr>
          <a:xfrm>
            <a:off x="7863840" y="3072384"/>
            <a:ext cx="822960" cy="3474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3"/>
          <p:cNvSpPr/>
          <p:nvPr/>
        </p:nvSpPr>
        <p:spPr>
          <a:xfrm>
            <a:off x="7863840" y="3072384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3"/>
          <p:cNvSpPr/>
          <p:nvPr/>
        </p:nvSpPr>
        <p:spPr>
          <a:xfrm>
            <a:off x="274320" y="3639312"/>
            <a:ext cx="8595360" cy="621792"/>
          </a:xfrm>
          <a:prstGeom prst="rect">
            <a:avLst/>
          </a:prstGeom>
          <a:solidFill>
            <a:srgbClr val="F7FAFD"/>
          </a:solidFill>
          <a:ln>
            <a:noFill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3"/>
          <p:cNvSpPr/>
          <p:nvPr/>
        </p:nvSpPr>
        <p:spPr>
          <a:xfrm>
            <a:off x="274320" y="3639312"/>
            <a:ext cx="64008" cy="62179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411480" y="3685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Coordinador de Formación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3"/>
          <p:cNvSpPr/>
          <p:nvPr/>
        </p:nvSpPr>
        <p:spPr>
          <a:xfrm>
            <a:off x="411480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Responsable de Agentes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3"/>
          <p:cNvSpPr/>
          <p:nvPr/>
        </p:nvSpPr>
        <p:spPr>
          <a:xfrm>
            <a:off x="2331720" y="3712464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Onboarding de agentes colaboradores, materiales formativos, certificados y webinars internos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3"/>
          <p:cNvSpPr/>
          <p:nvPr/>
        </p:nvSpPr>
        <p:spPr>
          <a:xfrm>
            <a:off x="7863840" y="3767328"/>
            <a:ext cx="82296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3"/>
          <p:cNvSpPr/>
          <p:nvPr/>
        </p:nvSpPr>
        <p:spPr>
          <a:xfrm>
            <a:off x="7863840" y="3767328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274320" y="4334256"/>
            <a:ext cx="8595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3"/>
          <p:cNvSpPr/>
          <p:nvPr/>
        </p:nvSpPr>
        <p:spPr>
          <a:xfrm>
            <a:off x="274320" y="4334256"/>
            <a:ext cx="64008" cy="621792"/>
          </a:xfrm>
          <a:prstGeom prst="rect">
            <a:avLst/>
          </a:prstGeom>
          <a:solidFill>
            <a:srgbClr val="5A6472"/>
          </a:solidFill>
          <a:ln cap="flat" cmpd="sng" w="12700">
            <a:solidFill>
              <a:srgbClr val="5A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3"/>
          <p:cNvSpPr/>
          <p:nvPr/>
        </p:nvSpPr>
        <p:spPr>
          <a:xfrm>
            <a:off x="411480" y="43799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Apoyo Legal/Fiscal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3"/>
          <p:cNvSpPr/>
          <p:nvPr/>
        </p:nvSpPr>
        <p:spPr>
          <a:xfrm>
            <a:off x="411480" y="467258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Abogado externo de confianza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2331720" y="4407408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Webinars sobre fiscalidad y visados, revisión MOU, soporte a compradores en proceso notarial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3"/>
          <p:cNvSpPr/>
          <p:nvPr/>
        </p:nvSpPr>
        <p:spPr>
          <a:xfrm>
            <a:off x="7863840" y="4462272"/>
            <a:ext cx="822960" cy="347472"/>
          </a:xfrm>
          <a:prstGeom prst="rect">
            <a:avLst/>
          </a:prstGeom>
          <a:solidFill>
            <a:srgbClr val="5A6472"/>
          </a:solidFill>
          <a:ln cap="flat" cmpd="sng" w="12700">
            <a:solidFill>
              <a:srgbClr val="5A64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3"/>
          <p:cNvSpPr/>
          <p:nvPr/>
        </p:nvSpPr>
        <p:spPr>
          <a:xfrm>
            <a:off x="7863840" y="4462272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7315200" y="48280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% de dedicación al programa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2FA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0" y="73152"/>
            <a:ext cx="9144000" cy="502920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4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PRESUPUESTO ESTIMADO · 6 Meses · Sep 2025 – Feb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0" y="576072"/>
            <a:ext cx="29260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91440" y="5760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INVERSIÓN NECESARIA Y RETORNO ESPERADO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Inversión &amp; ROI Estimado del Programa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274320" y="1572768"/>
            <a:ext cx="4754880" cy="320040"/>
          </a:xfrm>
          <a:prstGeom prst="rect">
            <a:avLst/>
          </a:prstGeom>
          <a:solidFill>
            <a:srgbClr val="0D2B55"/>
          </a:solidFill>
          <a:ln cap="flat" cmpd="sng" w="9525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411480" y="15727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&amp; DIGITAL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274320" y="1892808"/>
            <a:ext cx="47548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4"/>
          <p:cNvSpPr/>
          <p:nvPr/>
        </p:nvSpPr>
        <p:spPr>
          <a:xfrm>
            <a:off x="411480" y="18928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LinkedIn Ads (6 meses)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4"/>
          <p:cNvSpPr/>
          <p:nvPr/>
        </p:nvSpPr>
        <p:spPr>
          <a:xfrm>
            <a:off x="4206240" y="18928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€1.800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4"/>
          <p:cNvSpPr/>
          <p:nvPr/>
        </p:nvSpPr>
        <p:spPr>
          <a:xfrm>
            <a:off x="274320" y="2167128"/>
            <a:ext cx="4754880" cy="274320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4"/>
          <p:cNvSpPr/>
          <p:nvPr/>
        </p:nvSpPr>
        <p:spPr>
          <a:xfrm>
            <a:off x="411480" y="2167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Meta / Instagram Ads (6 meses)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4"/>
          <p:cNvSpPr/>
          <p:nvPr/>
        </p:nvSpPr>
        <p:spPr>
          <a:xfrm>
            <a:off x="4206240" y="216712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€3.000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4"/>
          <p:cNvSpPr/>
          <p:nvPr/>
        </p:nvSpPr>
        <p:spPr>
          <a:xfrm>
            <a:off x="274320" y="2441448"/>
            <a:ext cx="47548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4"/>
          <p:cNvSpPr/>
          <p:nvPr/>
        </p:nvSpPr>
        <p:spPr>
          <a:xfrm>
            <a:off x="411480" y="2441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Producción de vídeo / reels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4"/>
          <p:cNvSpPr/>
          <p:nvPr/>
        </p:nvSpPr>
        <p:spPr>
          <a:xfrm>
            <a:off x="4206240" y="244144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€1.200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4"/>
          <p:cNvSpPr/>
          <p:nvPr/>
        </p:nvSpPr>
        <p:spPr>
          <a:xfrm>
            <a:off x="274320" y="2715768"/>
            <a:ext cx="4754880" cy="274320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4"/>
          <p:cNvSpPr/>
          <p:nvPr/>
        </p:nvSpPr>
        <p:spPr>
          <a:xfrm>
            <a:off x="411480" y="27157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Email marketing (Mailchimp)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4"/>
          <p:cNvSpPr/>
          <p:nvPr/>
        </p:nvSpPr>
        <p:spPr>
          <a:xfrm>
            <a:off x="4206240" y="271576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€480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4"/>
          <p:cNvSpPr/>
          <p:nvPr/>
        </p:nvSpPr>
        <p:spPr>
          <a:xfrm>
            <a:off x="274320" y="2990088"/>
            <a:ext cx="47548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4"/>
          <p:cNvSpPr/>
          <p:nvPr/>
        </p:nvSpPr>
        <p:spPr>
          <a:xfrm>
            <a:off x="411480" y="2990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Landing page + diseño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4"/>
          <p:cNvSpPr/>
          <p:nvPr/>
        </p:nvSpPr>
        <p:spPr>
          <a:xfrm>
            <a:off x="4206240" y="299008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€800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4"/>
          <p:cNvSpPr/>
          <p:nvPr/>
        </p:nvSpPr>
        <p:spPr>
          <a:xfrm>
            <a:off x="274320" y="3264408"/>
            <a:ext cx="4754880" cy="320040"/>
          </a:xfrm>
          <a:prstGeom prst="rect">
            <a:avLst/>
          </a:prstGeom>
          <a:solidFill>
            <a:srgbClr val="0D2B55"/>
          </a:solidFill>
          <a:ln cap="flat" cmpd="sng" w="9525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4"/>
          <p:cNvSpPr/>
          <p:nvPr/>
        </p:nvSpPr>
        <p:spPr>
          <a:xfrm>
            <a:off x="411480" y="326440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WEBINARIOS &amp; EVENTOS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4"/>
          <p:cNvSpPr/>
          <p:nvPr/>
        </p:nvSpPr>
        <p:spPr>
          <a:xfrm>
            <a:off x="274320" y="3584448"/>
            <a:ext cx="47548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4"/>
          <p:cNvSpPr/>
          <p:nvPr/>
        </p:nvSpPr>
        <p:spPr>
          <a:xfrm>
            <a:off x="411480" y="3584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Zoom Webinar Pro (6 meses)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4"/>
          <p:cNvSpPr/>
          <p:nvPr/>
        </p:nvSpPr>
        <p:spPr>
          <a:xfrm>
            <a:off x="4206240" y="358444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€360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4"/>
          <p:cNvSpPr/>
          <p:nvPr/>
        </p:nvSpPr>
        <p:spPr>
          <a:xfrm>
            <a:off x="274320" y="3858768"/>
            <a:ext cx="4754880" cy="274320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4"/>
          <p:cNvSpPr/>
          <p:nvPr/>
        </p:nvSpPr>
        <p:spPr>
          <a:xfrm>
            <a:off x="411480" y="38587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Material impreso / presentaciones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4"/>
          <p:cNvSpPr/>
          <p:nvPr/>
        </p:nvSpPr>
        <p:spPr>
          <a:xfrm>
            <a:off x="4206240" y="385876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€400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4"/>
          <p:cNvSpPr/>
          <p:nvPr/>
        </p:nvSpPr>
        <p:spPr>
          <a:xfrm>
            <a:off x="274320" y="4133088"/>
            <a:ext cx="47548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4"/>
          <p:cNvSpPr/>
          <p:nvPr/>
        </p:nvSpPr>
        <p:spPr>
          <a:xfrm>
            <a:off x="411480" y="4133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FAM Trip a España (10 personas)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4"/>
          <p:cNvSpPr/>
          <p:nvPr/>
        </p:nvSpPr>
        <p:spPr>
          <a:xfrm>
            <a:off x="4206240" y="413308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€5.000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4"/>
          <p:cNvSpPr/>
          <p:nvPr/>
        </p:nvSpPr>
        <p:spPr>
          <a:xfrm>
            <a:off x="274320" y="4407408"/>
            <a:ext cx="4754880" cy="320040"/>
          </a:xfrm>
          <a:prstGeom prst="rect">
            <a:avLst/>
          </a:prstGeom>
          <a:solidFill>
            <a:srgbClr val="0D2B55"/>
          </a:solidFill>
          <a:ln cap="flat" cmpd="sng" w="9525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4"/>
          <p:cNvSpPr/>
          <p:nvPr/>
        </p:nvSpPr>
        <p:spPr>
          <a:xfrm>
            <a:off x="411480" y="440740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OPERACIONES &amp; CRM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4"/>
          <p:cNvSpPr/>
          <p:nvPr/>
        </p:nvSpPr>
        <p:spPr>
          <a:xfrm>
            <a:off x="274320" y="4727448"/>
            <a:ext cx="47548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4"/>
          <p:cNvSpPr/>
          <p:nvPr/>
        </p:nvSpPr>
        <p:spPr>
          <a:xfrm>
            <a:off x="411480" y="4727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Inmovilla CRM configuración extra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4"/>
          <p:cNvSpPr/>
          <p:nvPr/>
        </p:nvSpPr>
        <p:spPr>
          <a:xfrm>
            <a:off x="4206240" y="472744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€300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4"/>
          <p:cNvSpPr/>
          <p:nvPr/>
        </p:nvSpPr>
        <p:spPr>
          <a:xfrm>
            <a:off x="274320" y="5001768"/>
            <a:ext cx="4754880" cy="274320"/>
          </a:xfrm>
          <a:prstGeom prst="rect">
            <a:avLst/>
          </a:prstGeom>
          <a:solidFill>
            <a:srgbClr val="F7FAFD"/>
          </a:solidFill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4"/>
          <p:cNvSpPr/>
          <p:nvPr/>
        </p:nvSpPr>
        <p:spPr>
          <a:xfrm>
            <a:off x="411480" y="50017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Gestoría / abogado externo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4"/>
          <p:cNvSpPr/>
          <p:nvPr/>
        </p:nvSpPr>
        <p:spPr>
          <a:xfrm>
            <a:off x="4206240" y="500176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€600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4"/>
          <p:cNvSpPr/>
          <p:nvPr/>
        </p:nvSpPr>
        <p:spPr>
          <a:xfrm>
            <a:off x="274320" y="5276088"/>
            <a:ext cx="4754880" cy="320040"/>
          </a:xfrm>
          <a:prstGeom prst="rect">
            <a:avLst/>
          </a:prstGeom>
          <a:solidFill>
            <a:srgbClr val="C8922A"/>
          </a:solidFill>
          <a:ln cap="flat" cmpd="sng" w="9525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4"/>
          <p:cNvSpPr/>
          <p:nvPr/>
        </p:nvSpPr>
        <p:spPr>
          <a:xfrm>
            <a:off x="411480" y="52760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ESTIMADO 6 MESES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4"/>
          <p:cNvSpPr/>
          <p:nvPr/>
        </p:nvSpPr>
        <p:spPr>
          <a:xfrm>
            <a:off x="4206240" y="527608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€13.940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4"/>
          <p:cNvSpPr/>
          <p:nvPr/>
        </p:nvSpPr>
        <p:spPr>
          <a:xfrm>
            <a:off x="5212080" y="1572768"/>
            <a:ext cx="361188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4"/>
          <p:cNvSpPr/>
          <p:nvPr/>
        </p:nvSpPr>
        <p:spPr>
          <a:xfrm>
            <a:off x="5212080" y="1572768"/>
            <a:ext cx="3611880" cy="41148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4"/>
          <p:cNvSpPr/>
          <p:nvPr/>
        </p:nvSpPr>
        <p:spPr>
          <a:xfrm>
            <a:off x="5349240" y="1572768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RETORNO ESPERADO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14"/>
          <p:cNvCxnSpPr/>
          <p:nvPr/>
        </p:nvCxnSpPr>
        <p:spPr>
          <a:xfrm>
            <a:off x="5349240" y="2496312"/>
            <a:ext cx="333756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14"/>
          <p:cNvSpPr/>
          <p:nvPr/>
        </p:nvSpPr>
        <p:spPr>
          <a:xfrm>
            <a:off x="5349240" y="20574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Comisión media por venta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4"/>
          <p:cNvSpPr/>
          <p:nvPr/>
        </p:nvSpPr>
        <p:spPr>
          <a:xfrm>
            <a:off x="7315200" y="20574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€12.000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Google Shape;803;p14"/>
          <p:cNvCxnSpPr/>
          <p:nvPr/>
        </p:nvCxnSpPr>
        <p:spPr>
          <a:xfrm>
            <a:off x="5349240" y="2980944"/>
            <a:ext cx="333756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p14"/>
          <p:cNvSpPr/>
          <p:nvPr/>
        </p:nvSpPr>
        <p:spPr>
          <a:xfrm>
            <a:off x="5349240" y="254203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Escrituras estimadas (6m)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4"/>
          <p:cNvSpPr/>
          <p:nvPr/>
        </p:nvSpPr>
        <p:spPr>
          <a:xfrm>
            <a:off x="7315200" y="2542032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5 operaciones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6" name="Google Shape;806;p14"/>
          <p:cNvCxnSpPr/>
          <p:nvPr/>
        </p:nvCxnSpPr>
        <p:spPr>
          <a:xfrm>
            <a:off x="5349240" y="3465576"/>
            <a:ext cx="333756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7" name="Google Shape;807;p14"/>
          <p:cNvSpPr/>
          <p:nvPr/>
        </p:nvSpPr>
        <p:spPr>
          <a:xfrm>
            <a:off x="5349240" y="302666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Ingresos brutos estimados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4"/>
          <p:cNvSpPr/>
          <p:nvPr/>
        </p:nvSpPr>
        <p:spPr>
          <a:xfrm>
            <a:off x="7315200" y="3026664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€60.000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9" name="Google Shape;809;p14"/>
          <p:cNvCxnSpPr/>
          <p:nvPr/>
        </p:nvCxnSpPr>
        <p:spPr>
          <a:xfrm>
            <a:off x="5349240" y="3950208"/>
            <a:ext cx="333756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14"/>
          <p:cNvSpPr/>
          <p:nvPr/>
        </p:nvSpPr>
        <p:spPr>
          <a:xfrm>
            <a:off x="5349240" y="35112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Inversión total programa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4"/>
          <p:cNvSpPr/>
          <p:nvPr/>
        </p:nvSpPr>
        <p:spPr>
          <a:xfrm>
            <a:off x="7315200" y="3511296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-€13.940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2" name="Google Shape;812;p14"/>
          <p:cNvCxnSpPr/>
          <p:nvPr/>
        </p:nvCxnSpPr>
        <p:spPr>
          <a:xfrm>
            <a:off x="5349240" y="4434840"/>
            <a:ext cx="333756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14"/>
          <p:cNvSpPr/>
          <p:nvPr/>
        </p:nvSpPr>
        <p:spPr>
          <a:xfrm>
            <a:off x="5349240" y="39959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ROI estimado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4"/>
          <p:cNvSpPr/>
          <p:nvPr/>
        </p:nvSpPr>
        <p:spPr>
          <a:xfrm>
            <a:off x="7315200" y="399592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x4,3 sobre inversión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5" name="Google Shape;815;p14"/>
          <p:cNvCxnSpPr/>
          <p:nvPr/>
        </p:nvCxnSpPr>
        <p:spPr>
          <a:xfrm>
            <a:off x="5349240" y="4919472"/>
            <a:ext cx="3337560" cy="0"/>
          </a:xfrm>
          <a:prstGeom prst="straightConnector1">
            <a:avLst/>
          </a:prstGeom>
          <a:noFill/>
          <a:ln cap="flat" cmpd="sng" w="9525">
            <a:solidFill>
              <a:srgbClr val="D6E0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14"/>
          <p:cNvSpPr/>
          <p:nvPr/>
        </p:nvSpPr>
        <p:spPr>
          <a:xfrm>
            <a:off x="5349240" y="44805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Payback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4"/>
          <p:cNvSpPr/>
          <p:nvPr/>
        </p:nvSpPr>
        <p:spPr>
          <a:xfrm>
            <a:off x="7315200" y="44805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E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7E34"/>
                </a:solidFill>
                <a:latin typeface="Calibri"/>
                <a:ea typeface="Calibri"/>
                <a:cs typeface="Calibri"/>
                <a:sym typeface="Calibri"/>
              </a:rPr>
              <a:t>Con 2 operaciones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* Estimaciones conservadoras basadas en 1 cierre cada 1,5 meses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5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5"/>
          <p:cNvSpPr/>
          <p:nvPr/>
        </p:nvSpPr>
        <p:spPr>
          <a:xfrm>
            <a:off x="0" y="73152"/>
            <a:ext cx="3840480" cy="5070348"/>
          </a:xfrm>
          <a:prstGeom prst="rect">
            <a:avLst/>
          </a:prstGeom>
          <a:solidFill>
            <a:srgbClr val="1A5DA6"/>
          </a:solidFill>
          <a:ln cap="flat" cmpd="sng" w="12700">
            <a:solidFill>
              <a:srgbClr val="1A5D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5"/>
          <p:cNvSpPr/>
          <p:nvPr/>
        </p:nvSpPr>
        <p:spPr>
          <a:xfrm>
            <a:off x="274320" y="73152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15"/>
          <p:cNvCxnSpPr/>
          <p:nvPr/>
        </p:nvCxnSpPr>
        <p:spPr>
          <a:xfrm>
            <a:off x="274320" y="192024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8" name="Google Shape;828;p15"/>
          <p:cNvSpPr/>
          <p:nvPr/>
        </p:nvSpPr>
        <p:spPr>
          <a:xfrm>
            <a:off x="274320" y="20116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Lo que necesitamos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para arrancar en septiembre: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5"/>
          <p:cNvSpPr/>
          <p:nvPr/>
        </p:nvSpPr>
        <p:spPr>
          <a:xfrm>
            <a:off x="274320" y="265176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1.  Aprobar este Business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5"/>
          <p:cNvSpPr/>
          <p:nvPr/>
        </p:nvSpPr>
        <p:spPr>
          <a:xfrm>
            <a:off x="274320" y="297180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Asignar Community 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5"/>
          <p:cNvSpPr/>
          <p:nvPr/>
        </p:nvSpPr>
        <p:spPr>
          <a:xfrm>
            <a:off x="274320" y="329184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Crear landing page en inglés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5"/>
          <p:cNvSpPr/>
          <p:nvPr/>
        </p:nvSpPr>
        <p:spPr>
          <a:xfrm>
            <a:off x="274320" y="361188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Configurar CRM (tags 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5"/>
          <p:cNvSpPr/>
          <p:nvPr/>
        </p:nvSpPr>
        <p:spPr>
          <a:xfrm>
            <a:off x="274320" y="39319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Redactar MOU con legal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/>
          <p:nvPr/>
        </p:nvSpPr>
        <p:spPr>
          <a:xfrm>
            <a:off x="274320" y="425196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Planificar 1er webinar B2B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5"/>
          <p:cNvSpPr/>
          <p:nvPr/>
        </p:nvSpPr>
        <p:spPr>
          <a:xfrm>
            <a:off x="274320" y="457200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 Iniciar prospección LinkedIn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5"/>
          <p:cNvSpPr/>
          <p:nvPr/>
        </p:nvSpPr>
        <p:spPr>
          <a:xfrm>
            <a:off x="4114800" y="45720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Empieza el cambio.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España te está esperando.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7" name="Google Shape;837;p15"/>
          <p:cNvCxnSpPr/>
          <p:nvPr/>
        </p:nvCxnSpPr>
        <p:spPr>
          <a:xfrm>
            <a:off x="4114800" y="178308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15"/>
          <p:cNvSpPr/>
          <p:nvPr/>
        </p:nvSpPr>
        <p:spPr>
          <a:xfrm>
            <a:off x="4114800" y="1874520"/>
            <a:ext cx="4754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RE/MAX Inmomás tiene la experiencia,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la red y el sistema para convertirnos 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el socio estratégico número 1 para agentes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norteamericanos que quieran ofrecer España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como destino de inversión y calidad de vida.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5"/>
          <p:cNvSpPr/>
          <p:nvPr/>
        </p:nvSpPr>
        <p:spPr>
          <a:xfrm>
            <a:off x="4114800" y="3429000"/>
            <a:ext cx="4754880" cy="4572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5"/>
          <p:cNvSpPr/>
          <p:nvPr/>
        </p:nvSpPr>
        <p:spPr>
          <a:xfrm>
            <a:off x="4251960" y="34290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📩  Email de contacto: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5"/>
          <p:cNvSpPr/>
          <p:nvPr/>
        </p:nvSpPr>
        <p:spPr>
          <a:xfrm>
            <a:off x="6263640" y="34290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northamerica@remax-inmomas.es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5"/>
          <p:cNvSpPr/>
          <p:nvPr/>
        </p:nvSpPr>
        <p:spPr>
          <a:xfrm>
            <a:off x="4114800" y="3959352"/>
            <a:ext cx="4754880" cy="4572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5"/>
          <p:cNvSpPr/>
          <p:nvPr/>
        </p:nvSpPr>
        <p:spPr>
          <a:xfrm>
            <a:off x="4251960" y="395935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📱  WhatsApp Business: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5"/>
          <p:cNvSpPr/>
          <p:nvPr/>
        </p:nvSpPr>
        <p:spPr>
          <a:xfrm>
            <a:off x="6263640" y="395935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+34 XXX XXX XXX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5"/>
          <p:cNvSpPr/>
          <p:nvPr/>
        </p:nvSpPr>
        <p:spPr>
          <a:xfrm>
            <a:off x="4114800" y="4489704"/>
            <a:ext cx="4754880" cy="4572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5"/>
          <p:cNvSpPr/>
          <p:nvPr/>
        </p:nvSpPr>
        <p:spPr>
          <a:xfrm>
            <a:off x="4251960" y="44897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🌐  Landing (próximamente):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5"/>
          <p:cNvSpPr/>
          <p:nvPr/>
        </p:nvSpPr>
        <p:spPr>
          <a:xfrm>
            <a:off x="6263640" y="4489704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www.remax-inmomas.es/usa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5"/>
          <p:cNvSpPr/>
          <p:nvPr/>
        </p:nvSpPr>
        <p:spPr>
          <a:xfrm>
            <a:off x="4114800" y="4800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© 2025 RE/MAX Inmomás · Jávea &amp; Benidorm · Documento Confidencial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