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D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8979408" cy="9144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583680" y="91440"/>
            <a:ext cx="2560320" cy="5042916"/>
          </a:xfrm>
          <a:prstGeom prst="rect">
            <a:avLst/>
          </a:prstGeom>
          <a:solidFill>
            <a:srgbClr val="122B42"/>
          </a:solidFill>
          <a:ln cap="flat" cmpd="sng" w="12700">
            <a:solidFill>
              <a:srgbClr val="122B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73152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 REALTOR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691640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ALLIANCE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788920"/>
            <a:ext cx="3657600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90779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COSTA BLANCA SPAIN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56616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ABCCC"/>
                </a:solidFill>
                <a:latin typeface="Arial"/>
                <a:ea typeface="Arial"/>
                <a:cs typeface="Arial"/>
                <a:sym typeface="Arial"/>
              </a:rPr>
              <a:t>Partnership Program for American Real Estate Professionals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766560" y="1097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CC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CCC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75120" y="14630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RE/MAX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675120" y="208483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InmoMás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858000" y="2724912"/>
            <a:ext cx="2011680" cy="4572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675120" y="28529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C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BCCC"/>
                </a:solidFill>
                <a:latin typeface="Arial"/>
                <a:ea typeface="Arial"/>
                <a:cs typeface="Arial"/>
                <a:sym typeface="Arial"/>
              </a:rPr>
              <a:t>Costa Blanca · España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0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A0B8"/>
                </a:solidFill>
                <a:latin typeface="Arial"/>
                <a:ea typeface="Arial"/>
                <a:cs typeface="Arial"/>
                <a:sym typeface="Arial"/>
              </a:rPr>
              <a:t>Elche  ·  Alicante  ·  Benidorm  ·  Jávea  |  jose.martinez@remax.es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OPPORTUNITY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128016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1280160"/>
            <a:ext cx="260604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2920" y="15087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€190B+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" y="2578608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International real estate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investment in Spain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2920" y="34107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Record figures, growing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0" y="128016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200400" y="1280160"/>
            <a:ext cx="260604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337560" y="15087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12,000+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37560" y="2578608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American buyers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annually in Spain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37560" y="34107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Residential +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035040" y="1280160"/>
            <a:ext cx="26060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035040" y="1280160"/>
            <a:ext cx="260604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172200" y="150876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+28%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72200" y="2578608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Annual growth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US buyers 2022–25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172200" y="34107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Fastest-growing buyer segment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España es el destino #1 en Europa para compradores internacionales de segunda residencia.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0" y="0"/>
            <a:ext cx="3566160" cy="109728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0040" y="50292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BLANCA?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2926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Spain's most coveted coastline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for international buyers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20040" y="4023360"/>
            <a:ext cx="1828800" cy="54864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20040" y="4160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0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AA0B8"/>
                </a:solidFill>
                <a:latin typeface="Arial"/>
                <a:ea typeface="Arial"/>
                <a:cs typeface="Arial"/>
                <a:sym typeface="Arial"/>
              </a:rPr>
              <a:t>300km of Mediterranean coastline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749040" y="365760"/>
            <a:ext cx="54864" cy="9144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931920" y="411480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300+ Days of Sunshine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931920" y="795528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Mediterranean climate Americans love — mild winters, warm summers, outdoor lifestyle year-round.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749040" y="1527048"/>
            <a:ext cx="54864" cy="9144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931920" y="1572768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Exceptional Value vs. USA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931920" y="1956816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Beachfront properties from €200K–€2M. 30–50% cheaper than comparable US coastal markets.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749040" y="2688336"/>
            <a:ext cx="54864" cy="9144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931920" y="2734056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Strong Holiday Rental Yields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931920" y="3118104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Rental income of 5–8% annually. Perfect investment asset or retirement lifestyle property.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749040" y="3849624"/>
            <a:ext cx="54864" cy="9144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931920" y="3895344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World-Class Connectivity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931920" y="4279392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Alicante Airport connects 20+ countries. Growing US route network makes visits easy.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COMPLETE SERVICE ALLIANCE FOR YOUR CLIENTS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2004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20040" y="1143000"/>
            <a:ext cx="2651760" cy="96012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57200" y="11887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ASSOCIATES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17373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Legal &amp; Tax Advisory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2212848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04088" y="21579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NIE &amp; Residency 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2734056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04088" y="267919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Complete purchase legal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255264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04088" y="3200400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Tax optimization strategies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04088" y="3721608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Golden Visa assistance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4297680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04088" y="4242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Wills &amp; inheritance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154680" y="1143000"/>
            <a:ext cx="2651760" cy="960120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2E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91840" y="11887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UCI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91840" y="17373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4E2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DD4E2"/>
                </a:solidFill>
                <a:latin typeface="Arial"/>
                <a:ea typeface="Arial"/>
                <a:cs typeface="Arial"/>
                <a:sym typeface="Arial"/>
              </a:rPr>
              <a:t>Mortgage &amp; Finance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291840" y="2212848"/>
            <a:ext cx="164592" cy="164592"/>
          </a:xfrm>
          <a:prstGeom prst="ellipse">
            <a:avLst/>
          </a:prstGeom>
          <a:solidFill>
            <a:srgbClr val="2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538728" y="21579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Non-resident mortgages up to 70%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291840" y="2734056"/>
            <a:ext cx="164592" cy="164592"/>
          </a:xfrm>
          <a:prstGeom prst="ellipse">
            <a:avLst/>
          </a:prstGeom>
          <a:solidFill>
            <a:srgbClr val="2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538728" y="267919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Currency exchange advisory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91840" y="3255264"/>
            <a:ext cx="164592" cy="164592"/>
          </a:xfrm>
          <a:prstGeom prst="ellipse">
            <a:avLst/>
          </a:prstGeom>
          <a:solidFill>
            <a:srgbClr val="2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538728" y="3200400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Pre-approval in 48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291840" y="3776472"/>
            <a:ext cx="164592" cy="164592"/>
          </a:xfrm>
          <a:prstGeom prst="ellipse">
            <a:avLst/>
          </a:prstGeom>
          <a:solidFill>
            <a:srgbClr val="2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538728" y="3721608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Competitive EU interest rates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291840" y="4297680"/>
            <a:ext cx="164592" cy="164592"/>
          </a:xfrm>
          <a:prstGeom prst="ellipse">
            <a:avLst/>
          </a:prstGeom>
          <a:solidFill>
            <a:srgbClr val="2E6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538728" y="4242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English-speaking specialists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98932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989320" y="1143000"/>
            <a:ext cx="2651760" cy="96012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26480" y="11887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RE/MAX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InmoMás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126480" y="17373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D8B8"/>
                </a:solidFill>
                <a:latin typeface="Arial"/>
                <a:ea typeface="Arial"/>
                <a:cs typeface="Arial"/>
                <a:sym typeface="Arial"/>
              </a:rPr>
              <a:t>Real Estate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126480" y="2212848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373368" y="2157984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Curated Costa Blanca portfolio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126480" y="2734056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373368" y="2679192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Full buyer representation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126480" y="3255264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373368" y="3200400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Property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0" y="3776472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73368" y="3721608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Holiday rental setup &amp; mgmt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126480" y="4297680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373368" y="4242816"/>
            <a:ext cx="2212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Investment ROI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WORKS FOR YOU AS A REALTOR PARTNER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0040" y="1298448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20040" y="1252728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11887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Join the Alliance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05840" y="15544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Sign the free Referral Partner Agreement. No exclusivity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20040" y="2560320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20040" y="2514600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2450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Receive Your Partner Kit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2816352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Co-branded guides, videos, and all marketing materials.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20040" y="3822192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20040" y="3776472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05840" y="371246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Invite Clients to Webinars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05840" y="4078224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Share monthly webinar invitations with your interested clients.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46320" y="1298448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846320" y="1252728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532120" y="118872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We Handle Spain-Side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532120" y="15544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Legal, financial, property search — all managed by our team.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846320" y="2560320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846320" y="2514600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532120" y="2450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Transparent Follow-Up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532120" y="2816352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Weekly CRM updates on your clients. You're always in the 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846320" y="3822192"/>
            <a:ext cx="530352" cy="53035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846320" y="3776472"/>
            <a:ext cx="53035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532120" y="371246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Earn Your Commission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532120" y="4078224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Guaranteed referral fee paid within 30 days of closing.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754880" y="1188720"/>
            <a:ext cx="0" cy="3611880"/>
          </a:xfrm>
          <a:prstGeom prst="straightConnector1">
            <a:avLst/>
          </a:prstGeom>
          <a:noFill/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D5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REFERRAL COMMISSION STRUCTURE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1005840"/>
            <a:ext cx="3200400" cy="64008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1E4A6A"/>
          </a:solidFill>
          <a:ln cap="flat" cmpd="sng" w="12700">
            <a:solidFill>
              <a:srgbClr val="1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85800" y="138988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€150,000 – €500,000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394960" y="1261872"/>
            <a:ext cx="1645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9A84C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040880" y="14447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0B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7AA0B8"/>
                </a:solidFill>
                <a:latin typeface="Arial"/>
                <a:ea typeface="Arial"/>
                <a:cs typeface="Arial"/>
                <a:sym typeface="Arial"/>
              </a:rPr>
              <a:t>of our commission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85800" y="235000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€500,001 – €1,000,000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394960" y="2221992"/>
            <a:ext cx="1645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040880" y="240487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0CC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E0CC"/>
                </a:solidFill>
                <a:latin typeface="Arial"/>
                <a:ea typeface="Arial"/>
                <a:cs typeface="Arial"/>
                <a:sym typeface="Arial"/>
              </a:rPr>
              <a:t>of our commission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3108960"/>
            <a:ext cx="8229600" cy="868680"/>
          </a:xfrm>
          <a:prstGeom prst="rect">
            <a:avLst/>
          </a:prstGeom>
          <a:solidFill>
            <a:srgbClr val="1E4A6A"/>
          </a:solidFill>
          <a:ln cap="flat" cmpd="sng" w="12700">
            <a:solidFill>
              <a:srgbClr val="1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85800" y="331012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 €1,000,000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394960" y="3182112"/>
            <a:ext cx="1645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9A84C"/>
                </a:solidFill>
                <a:latin typeface="Arial"/>
                <a:ea typeface="Arial"/>
                <a:cs typeface="Arial"/>
                <a:sym typeface="Arial"/>
              </a:rPr>
              <a:t>Negotiable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040880" y="336499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0B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7AA0B8"/>
                </a:solidFill>
                <a:latin typeface="Arial"/>
                <a:ea typeface="Arial"/>
                <a:cs typeface="Arial"/>
                <a:sym typeface="Arial"/>
              </a:rPr>
              <a:t>agreed case by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422452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✓  Client protection: your referral is registered &amp; protected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460857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✓  Payment within 30 days of closing — wire to US bank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800600" y="422452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✓  Full CRM tracking at every stage in real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800600" y="460857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✓  No cap — refer unlimited clients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WEBINAR SYSTEM  —  12 Sessions Per Year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20040" y="114300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20040" y="1143000"/>
            <a:ext cx="960120" cy="173736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93192" y="17373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399032" y="118872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Why Americans 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Investing in Spain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399032" y="187452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Market trends, ROI data, lifestyle benefits. Ideal for first-contact clients.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399032" y="256946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Speakers: RE/MAX InmoMás + Fuster &amp; Associates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09160" y="114300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709160" y="1143000"/>
            <a:ext cx="960120" cy="173736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782312" y="17373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788152" y="118872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Retire in Spain: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Your New Chapter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788152" y="187452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Cost of living, residency options, healthcare, Golden Visa pathway.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788152" y="256946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Speakers: Fuster &amp; Associates + RE/MAX InmoMás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320040" y="3017520"/>
            <a:ext cx="960120" cy="1737360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2E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93192" y="3611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399032" y="30632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Buying Property in Spain: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Step by Step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399032" y="374904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complete legal process: NIE, taxes, notary, timelines — clearly explained.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399032" y="44439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B8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E6B8A"/>
                </a:solidFill>
                <a:latin typeface="Arial"/>
                <a:ea typeface="Arial"/>
                <a:cs typeface="Arial"/>
                <a:sym typeface="Arial"/>
              </a:rPr>
              <a:t>Speakers: Fuster &amp; Associates + Banco UCI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70916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709160" y="3017520"/>
            <a:ext cx="960120" cy="1737360"/>
          </a:xfrm>
          <a:prstGeom prst="rect">
            <a:avLst/>
          </a:prstGeom>
          <a:solidFill>
            <a:srgbClr val="2A7A52"/>
          </a:solidFill>
          <a:ln cap="flat" cmpd="sng" w="1270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782312" y="3611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788152" y="30632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Costa Blanca Investment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Opportunities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788152" y="374904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Holiday rental yields, market appreciation, portfolio diversification.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788152" y="44439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A7A52"/>
                </a:solidFill>
                <a:latin typeface="Arial"/>
                <a:ea typeface="Arial"/>
                <a:cs typeface="Arial"/>
                <a:sym typeface="Arial"/>
              </a:rPr>
              <a:t>Speakers: RE/MAX InmoMás + Banco UCI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CONVERSION FUNNEL — From Realtor to Closing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REALTOR PARTNER joins the alliance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188720" y="1645920"/>
            <a:ext cx="6217920" cy="457200"/>
          </a:xfrm>
          <a:prstGeom prst="rect">
            <a:avLst/>
          </a:prstGeom>
          <a:solidFill>
            <a:srgbClr val="1E4A6A"/>
          </a:solidFill>
          <a:ln cap="flat" cmpd="sng" w="12700">
            <a:solidFill>
              <a:srgbClr val="1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188720" y="169164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Realtor invites clients to webinar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737360" y="2194560"/>
            <a:ext cx="5120640" cy="457200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2E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737360" y="2240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 attends monthly webinar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286000" y="2743200"/>
            <a:ext cx="4023360" cy="4572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2286000" y="27889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 books private consultation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834640" y="3291840"/>
            <a:ext cx="2926080" cy="457200"/>
          </a:xfrm>
          <a:prstGeom prst="rect">
            <a:avLst/>
          </a:prstGeom>
          <a:solidFill>
            <a:srgbClr val="C05A25"/>
          </a:solidFill>
          <a:ln cap="flat" cmpd="sng" w="12700">
            <a:solidFill>
              <a:srgbClr val="C05A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834640" y="33375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Property selection &amp; virtual tour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91840" y="3840480"/>
            <a:ext cx="2011680" cy="457200"/>
          </a:xfrm>
          <a:prstGeom prst="rect">
            <a:avLst/>
          </a:prstGeom>
          <a:solidFill>
            <a:srgbClr val="A0461A"/>
          </a:solidFill>
          <a:ln cap="flat" cmpd="sng" w="12700">
            <a:solidFill>
              <a:srgbClr val="A04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3291840" y="3886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Inspection trip to Costa Blanca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749040" y="4389120"/>
            <a:ext cx="1097280" cy="457200"/>
          </a:xfrm>
          <a:prstGeom prst="rect">
            <a:avLst/>
          </a:prstGeom>
          <a:solidFill>
            <a:srgbClr val="2A7A52"/>
          </a:solidFill>
          <a:ln cap="flat" cmpd="sng" w="1270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749040" y="44348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PURCHASE 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7406640" y="11430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Year 1 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315200" y="1554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360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315200" y="21762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315200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0" y="33192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inspection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315200" y="3840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315200" y="44622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closings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WHO WE RECRUIT — TARGET REALTOR PROFILES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65760" y="10972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PRIORITY STATES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65760" y="1508760"/>
            <a:ext cx="1371600" cy="384048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65760" y="1508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Florida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874520" y="1508760"/>
            <a:ext cx="1371600" cy="384048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874520" y="1508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65760" y="2011680"/>
            <a:ext cx="1371600" cy="384048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65760" y="20116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California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874520" y="2011680"/>
            <a:ext cx="1371600" cy="384048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874520" y="20116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York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65760" y="2514600"/>
            <a:ext cx="1371600" cy="384048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65760" y="25146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Illinois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874520" y="2514600"/>
            <a:ext cx="1371600" cy="384048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1874520" y="25146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Arizona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1"/>
          <p:cNvCxnSpPr/>
          <p:nvPr/>
        </p:nvCxnSpPr>
        <p:spPr>
          <a:xfrm>
            <a:off x="3383280" y="1097280"/>
            <a:ext cx="0" cy="3749040"/>
          </a:xfrm>
          <a:prstGeom prst="straightConnector1">
            <a:avLst/>
          </a:prstGeom>
          <a:noFill/>
          <a:ln cap="flat" cmpd="sng" w="190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1"/>
          <p:cNvSpPr/>
          <p:nvPr/>
        </p:nvSpPr>
        <p:spPr>
          <a:xfrm>
            <a:off x="3566160" y="1097280"/>
            <a:ext cx="530352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566160" y="1097280"/>
            <a:ext cx="73152" cy="877824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3749040" y="11704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Luxury Specialists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749040" y="151790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Clients with $1M+ budgets. Costa Blanca villas are perfectly matched in price and prestige.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566160" y="2057400"/>
            <a:ext cx="530352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3566160" y="2057400"/>
            <a:ext cx="73152" cy="877824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749040" y="21305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International Buyer Experts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749040" y="247802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Already cross-border savvy. Understand foreign transactions and legal documentation.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566160" y="3017520"/>
            <a:ext cx="530352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566160" y="3017520"/>
            <a:ext cx="73152" cy="877824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749040" y="309067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Retirement Lifestyle Advisors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749040" y="343814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Baby Boomers with equity ready to retire. Spain = dream destination at lower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566160" y="3977640"/>
            <a:ext cx="5303520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566160" y="3977640"/>
            <a:ext cx="73152" cy="877824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3749040" y="40507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Investment-Focused Realtors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749040" y="439826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Clients seeking EU real estate for portfolio diversification and rental income.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B8A"/>
          </a:solidFill>
          <a:ln cap="flat" cmpd="sng" w="12700">
            <a:solidFill>
              <a:srgbClr val="2E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WE RECRUIT REALTOR PARTNERS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20040" y="1143000"/>
            <a:ext cx="4160520" cy="18288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320040" y="1143000"/>
            <a:ext cx="4160520" cy="502920"/>
          </a:xfrm>
          <a:prstGeom prst="rect">
            <a:avLst/>
          </a:prstGeom>
          <a:solidFill>
            <a:srgbClr val="0A66C2"/>
          </a:solidFill>
          <a:ln cap="flat" cmpd="sng" w="12700">
            <a:solidFill>
              <a:srgbClr val="0A6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57200" y="12252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 Outreach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17373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Personalized InMail to luxury &amp; intl. Realtors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21305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Targeted ads: Realtor + Florida +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7200" y="2523744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Content: Spain success stories &amp; property videos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709160" y="1143000"/>
            <a:ext cx="4160520" cy="18288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4709160" y="1143000"/>
            <a:ext cx="4160520" cy="50292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846320" y="12252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NAR &amp; Association Events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846320" y="17373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NAR Annual Conference sponsorship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846320" y="21305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Florida REALTORS® Convention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846320" y="2523744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International buyers summit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20040" y="3063240"/>
            <a:ext cx="4160520" cy="18288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20040" y="3063240"/>
            <a:ext cx="4160520" cy="5029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57200" y="314553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RE/MAX USA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57200" y="36576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Leverage RE/MAX global referral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57200" y="40507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Internal RE/MAX partner promotions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7200" y="4443984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Co-marketing with RE/MAX España 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709160" y="3063240"/>
            <a:ext cx="4160520" cy="18288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4709160" y="3063240"/>
            <a:ext cx="4160520" cy="50292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846320" y="314553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Campaigns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846320" y="36576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3-email cold outreach sequence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846320" y="40507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Monthly warm-lead 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846320" y="4443984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→  Automated webinar invitation 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12-MONTH ROADMAP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32004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320040" y="1143000"/>
            <a:ext cx="2651760" cy="914400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57200" y="11887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5720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Months 1–2 ·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7200" y="2212848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04088" y="2148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Brand identity &amp; program naming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2734056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704088" y="267004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Formalize Fuster &amp; UCI agreements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3255264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704088" y="31912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Build CRM &amp; partner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704088" y="37124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Create all marketing materials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57200" y="4297680"/>
            <a:ext cx="164592" cy="164592"/>
          </a:xfrm>
          <a:prstGeom prst="ellipse">
            <a:avLst/>
          </a:prstGeom>
          <a:solidFill>
            <a:srgbClr val="1A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04088" y="423367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Launch LinkedIn presence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3154680" y="1143000"/>
            <a:ext cx="2651760" cy="91440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291840" y="11887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29184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8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D8B8"/>
                </a:solidFill>
                <a:latin typeface="Arial"/>
                <a:ea typeface="Arial"/>
                <a:cs typeface="Arial"/>
                <a:sym typeface="Arial"/>
              </a:rPr>
              <a:t>Months 2–6 · Recruitment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291840" y="2212848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3538728" y="2148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Active Realtor outreach campaign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291840" y="2734056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3538728" y="267004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Recruit first 25 partners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291840" y="3255264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538728" y="31912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Deploy partner kits to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3291840" y="3776472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3538728" y="37124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Launch first 3 webinars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3291840" y="4297680"/>
            <a:ext cx="164592" cy="164592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3538728" y="423367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Organize first inspection trips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989320" y="114300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989320" y="1143000"/>
            <a:ext cx="2651760" cy="914400"/>
          </a:xfrm>
          <a:prstGeom prst="rect">
            <a:avLst/>
          </a:prstGeom>
          <a:solidFill>
            <a:srgbClr val="2A7A52"/>
          </a:solidFill>
          <a:ln cap="flat" cmpd="sng" w="1270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126480" y="11887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12648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8C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AB8CC"/>
                </a:solidFill>
                <a:latin typeface="Arial"/>
                <a:ea typeface="Arial"/>
                <a:cs typeface="Arial"/>
                <a:sym typeface="Arial"/>
              </a:rPr>
              <a:t>Months 6–12 ·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126480" y="2212848"/>
            <a:ext cx="164592" cy="164592"/>
          </a:xfrm>
          <a:prstGeom prst="ellipse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373368" y="2148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100 active Realtor partners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126480" y="2734056"/>
            <a:ext cx="164592" cy="164592"/>
          </a:xfrm>
          <a:prstGeom prst="ellipse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6373368" y="267004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Monthly webinar cadence (12/yr)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126480" y="3255264"/>
            <a:ext cx="164592" cy="164592"/>
          </a:xfrm>
          <a:prstGeom prst="ellipse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373368" y="31912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15–25 closings achieved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126480" y="3776472"/>
            <a:ext cx="164592" cy="164592"/>
          </a:xfrm>
          <a:prstGeom prst="ellipse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373368" y="37124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Case studies &amp; testimonials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6126480" y="4297680"/>
            <a:ext cx="164592" cy="164592"/>
          </a:xfrm>
          <a:prstGeom prst="ellipse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6373368" y="423367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Plan 2027 expansion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YEAR 1 TARGETS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118872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457200" y="1188720"/>
            <a:ext cx="2514600" cy="73152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48640" y="13258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48640" y="221284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Realtor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Recruited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200400" y="118872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200400" y="1188720"/>
            <a:ext cx="251460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3291840" y="13258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3291840" y="221284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Webinars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Organized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943600" y="118872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5943600" y="1188720"/>
            <a:ext cx="2514600" cy="73152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6035040" y="13258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360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035040" y="221284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Qualified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Generated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57200" y="306324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457200" y="3063240"/>
            <a:ext cx="251460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548640" y="32004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48640" y="408736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Inspection Trips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 Spain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200400" y="306324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3200400" y="3063240"/>
            <a:ext cx="2514600" cy="73152"/>
          </a:xfrm>
          <a:prstGeom prst="rect">
            <a:avLst/>
          </a:prstGeom>
          <a:solidFill>
            <a:srgbClr val="1A3D5C"/>
          </a:solidFill>
          <a:ln cap="flat" cmpd="sng" w="12700">
            <a:solidFill>
              <a:srgbClr val="1A3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3291840" y="32004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291840" y="408736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943600" y="3063240"/>
            <a:ext cx="2514600" cy="1737360"/>
          </a:xfrm>
          <a:prstGeom prst="rect">
            <a:avLst/>
          </a:prstGeom>
          <a:solidFill>
            <a:srgbClr val="E8F0F7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5943600" y="3063240"/>
            <a:ext cx="2514600" cy="73152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6035040" y="320040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D5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3D5C"/>
                </a:solidFill>
                <a:latin typeface="Arial"/>
                <a:ea typeface="Arial"/>
                <a:cs typeface="Arial"/>
                <a:sym typeface="Arial"/>
              </a:rPr>
              <a:t>€50K+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6035040" y="4087368"/>
            <a:ext cx="2331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Referral Commissions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Paid to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D5C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703A"/>
          </a:solidFill>
          <a:ln cap="flat" cmpd="sng" w="12700">
            <a:solidFill>
              <a:srgbClr val="D47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LET'S BUILD THIS TOGETHER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03A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D4703A"/>
                </a:solidFill>
                <a:latin typeface="Arial"/>
                <a:ea typeface="Arial"/>
                <a:cs typeface="Arial"/>
                <a:sym typeface="Arial"/>
              </a:rPr>
              <a:t>Join the USA Realtor Alliance – Costa Blanca Spain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645920" y="2194560"/>
            <a:ext cx="402336" cy="402336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1645920" y="2157984"/>
            <a:ext cx="402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2176272" y="2194560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Schedule a 30-minute intro call with Pepe Martínez (RE/MAX InmoMás)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645920" y="2834640"/>
            <a:ext cx="402336" cy="402336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645920" y="2798064"/>
            <a:ext cx="402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176272" y="2834640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Receive your personalized Realtor Partner Kit — at no cost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645920" y="3474720"/>
            <a:ext cx="402336" cy="402336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645920" y="3438144"/>
            <a:ext cx="402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2176272" y="3474720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Register for our next live webinar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645920" y="4114800"/>
            <a:ext cx="402336" cy="402336"/>
          </a:xfrm>
          <a:prstGeom prst="ellipse">
            <a:avLst/>
          </a:prstGeom>
          <a:solidFill>
            <a:srgbClr val="D47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645920" y="4078224"/>
            <a:ext cx="4023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2176272" y="4114800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Sign the Referral Partner Agreement and start earning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645920" y="4626864"/>
            <a:ext cx="5852160" cy="34747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645920" y="466344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0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A0B8"/>
                </a:solidFill>
                <a:latin typeface="Arial"/>
                <a:ea typeface="Arial"/>
                <a:cs typeface="Arial"/>
                <a:sym typeface="Arial"/>
              </a:rPr>
              <a:t>jose.martinez@remax.es   |   www.remax-inmomas.es   |   Costa Blanca,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